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solved the quantum harmonic oscillator numerically and checked every result against the exact textbook solution. The whole pipeline runs in milliseconds.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harmonic oscillator is one of the few potentials with a closed-form solution, which makes it a good benchmark for a numerical solver.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Replacing the second derivative with a three-point stencil turns the Hamiltonian into a symmetric tridiagonal matrix. LAPACK finds its lowest eigenpairs in milliseconds.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eigenstate is drawn at the height of its energy inside the parabola. The dotted overlay is the exact Hermite function, and it lies on top of the numerical curve.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 12 energies match n + ½ to within 8.3e-04. The error falls by about 4× each time the grid spacing halves, which is the signature of a second-order method.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Python is the source of truth. The build step bakes the solution into a single HTML file that opens directly in a browser with no server.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30-line solver reproduces the textbook oscillator to about 1e-3, and the error behaves exactly as the theory of the method predicts. The limitations below are known and tested.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822960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2A78D6"/>
                </a:solidFill>
                <a:latin typeface="Inter"/>
              </a:rPr>
              <a:t>HACKATHON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457200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0B0B0B"/>
                </a:solidFill>
                <a:latin typeface="Inter"/>
              </a:rPr>
              <a:t>Quantum Harmonic Oscillator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606040"/>
            <a:ext cx="45720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>
                <a:solidFill>
                  <a:srgbClr val="52514E"/>
                </a:solidFill>
                <a:latin typeface="Inter"/>
              </a:rPr>
              <a:t>solved numerically, checked exactly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749039"/>
            <a:ext cx="448056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>
                <a:solidFill>
                  <a:srgbClr val="52514E"/>
                </a:solidFill>
                <a:latin typeface="Inter"/>
              </a:rPr>
              <a:t>Turn the Schrödinger equation into a matrix, diagonalise it, and show that the eigenvalues land on ℏω(n + ½), in a visual you can explore live.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85216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8A8984"/>
                </a:solidFill>
                <a:latin typeface="JetBrains Mono"/>
              </a:rPr>
              <a:t>python -m qho.build  →  demo/index.html</a:t>
            </a:r>
          </a:p>
        </p:txBody>
      </p:sp>
      <p:pic>
        <p:nvPicPr>
          <p:cNvPr id="7" name="Picture 6" descr="crop-hero-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0680" y="822960"/>
            <a:ext cx="6263640" cy="4934989"/>
          </a:xfrm>
          <a:prstGeom prst="rect">
            <a:avLst/>
          </a:prstGeom>
          <a:ln w="12700">
            <a:solidFill>
              <a:srgbClr val="E3E2DC"/>
            </a:solidFill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2A78D6"/>
                </a:solidFill>
                <a:latin typeface="Inter"/>
              </a:rPr>
              <a:t>THE PHYSICS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0B0B0B"/>
                </a:solidFill>
                <a:latin typeface="Inter"/>
              </a:rPr>
              <a:t>Schrödinger equation with a harmonic potential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08760"/>
            <a:ext cx="6400800" cy="1234440"/>
          </a:xfrm>
          <a:prstGeom prst="roundRect">
            <a:avLst>
              <a:gd name="adj" fmla="val 8000"/>
            </a:avLst>
          </a:prstGeom>
          <a:solidFill>
            <a:srgbClr val="EEF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691640"/>
            <a:ext cx="5943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0">
                <a:solidFill>
                  <a:srgbClr val="0B0B0B"/>
                </a:solidFill>
                <a:latin typeface="JetBrains Mono"/>
              </a:rPr>
              <a:t>−(ℏ²/2m) ψ″(x) + ½ mω² x² ψ(x) = E ψ(x)</a:t>
            </a:r>
          </a:p>
          <a:p>
            <a:pPr algn="l">
              <a:lnSpc>
                <a:spcPct val="115000"/>
              </a:lnSpc>
              <a:spcBef>
                <a:spcPts val="800"/>
              </a:spcBef>
            </a:pPr>
            <a:r>
              <a:rPr sz="1400" b="0">
                <a:solidFill>
                  <a:srgbClr val="52514E"/>
                </a:solidFill>
                <a:latin typeface="Inter"/>
              </a:rPr>
              <a:t>time-independent Schrödinger equation, V(x) = ½ mω² x²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06324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0B0B0B"/>
                </a:solidFill>
                <a:latin typeface="Inter"/>
              </a:rPr>
              <a:t>Exact solution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520440"/>
            <a:ext cx="64008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0B0B0B"/>
                </a:solidFill>
                <a:latin typeface="JetBrains Mono"/>
              </a:rPr>
              <a:t>E_n = ℏω (n + ½)</a:t>
            </a:r>
            <a:r>
              <a:rPr sz="1600" b="0">
                <a:solidFill>
                  <a:srgbClr val="52514E"/>
                </a:solidFill>
                <a:latin typeface="Inter"/>
              </a:rPr>
              <a:t>      n = 0, 1, 2, …</a:t>
            </a:r>
          </a:p>
          <a:p>
            <a:pPr algn="l">
              <a:lnSpc>
                <a:spcPct val="115000"/>
              </a:lnSpc>
              <a:spcBef>
                <a:spcPts val="1000"/>
              </a:spcBef>
            </a:pPr>
            <a:r>
              <a:rPr sz="1800" b="0">
                <a:solidFill>
                  <a:srgbClr val="0B0B0B"/>
                </a:solidFill>
                <a:latin typeface="JetBrains Mono"/>
              </a:rPr>
              <a:t>ψ_n(ξ) ∝ H_n(ξ) e^(−ξ²/2),   ξ = x √(mω/ℏ)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84632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0B0B0B"/>
                </a:solidFill>
                <a:latin typeface="Inter"/>
              </a:rPr>
              <a:t>Natural units: </a:t>
            </a:r>
            <a:r>
              <a:rPr sz="1700" b="0">
                <a:solidFill>
                  <a:srgbClr val="52514E"/>
                </a:solidFill>
                <a:latin typeface="Inter"/>
              </a:rPr>
              <a:t>ℏ = m = ω = 1, so E_n = n + ½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79" y="1508760"/>
            <a:ext cx="4114800" cy="4480560"/>
          </a:xfrm>
          <a:prstGeom prst="roundRect">
            <a:avLst>
              <a:gd name="adj" fmla="val 8000"/>
            </a:avLst>
          </a:prstGeom>
          <a:solidFill>
            <a:srgbClr val="F4F4F1"/>
          </a:solidFill>
          <a:ln w="12700">
            <a:solidFill>
              <a:srgbClr val="E3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0" y="173736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0B0B0B"/>
                </a:solidFill>
                <a:latin typeface="Inter"/>
              </a:rPr>
              <a:t>What to look for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2286000"/>
            <a:ext cx="361188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2A78D6"/>
                </a:solidFill>
                <a:latin typeface="Inter"/>
              </a:rPr>
              <a:t>●  </a:t>
            </a:r>
            <a:r>
              <a:rPr sz="1600" b="0">
                <a:solidFill>
                  <a:srgbClr val="52514E"/>
                </a:solidFill>
                <a:latin typeface="Inter"/>
              </a:rPr>
              <a:t>Zero-point energy ½ℏω: the ground state never sits at the bottom of the well</a:t>
            </a:r>
          </a:p>
          <a:p>
            <a:pPr algn="l">
              <a:lnSpc>
                <a:spcPct val="115000"/>
              </a:lnSpc>
              <a:spcBef>
                <a:spcPts val="1200"/>
              </a:spcBef>
            </a:pPr>
            <a:r>
              <a:rPr sz="1000" b="0">
                <a:solidFill>
                  <a:srgbClr val="EB6834"/>
                </a:solidFill>
                <a:latin typeface="Inter"/>
              </a:rPr>
              <a:t>●  </a:t>
            </a:r>
            <a:r>
              <a:rPr sz="1600" b="0">
                <a:solidFill>
                  <a:srgbClr val="52514E"/>
                </a:solidFill>
                <a:latin typeface="Inter"/>
              </a:rPr>
              <a:t>Equally spaced levels, ΔE = ℏω</a:t>
            </a:r>
          </a:p>
          <a:p>
            <a:pPr algn="l">
              <a:lnSpc>
                <a:spcPct val="115000"/>
              </a:lnSpc>
              <a:spcBef>
                <a:spcPts val="1200"/>
              </a:spcBef>
            </a:pPr>
            <a:r>
              <a:rPr sz="1000" b="0">
                <a:solidFill>
                  <a:srgbClr val="2A78D6"/>
                </a:solidFill>
                <a:latin typeface="Inter"/>
              </a:rPr>
              <a:t>●  </a:t>
            </a:r>
            <a:r>
              <a:rPr sz="1600" b="0">
                <a:solidFill>
                  <a:srgbClr val="52514E"/>
                </a:solidFill>
                <a:latin typeface="Inter"/>
              </a:rPr>
              <a:t>Parity (−1)ⁿ: even states are symmetric, odd states antisymmetric</a:t>
            </a:r>
          </a:p>
          <a:p>
            <a:pPr algn="l">
              <a:lnSpc>
                <a:spcPct val="115000"/>
              </a:lnSpc>
              <a:spcBef>
                <a:spcPts val="1200"/>
              </a:spcBef>
            </a:pPr>
            <a:r>
              <a:rPr sz="1000" b="0">
                <a:solidFill>
                  <a:srgbClr val="EB6834"/>
                </a:solidFill>
                <a:latin typeface="Inter"/>
              </a:rPr>
              <a:t>●  </a:t>
            </a:r>
            <a:r>
              <a:rPr sz="1600" b="0">
                <a:solidFill>
                  <a:srgbClr val="52514E"/>
                </a:solidFill>
                <a:latin typeface="Inter"/>
              </a:rPr>
              <a:t>State n has exactly n nodes</a:t>
            </a:r>
          </a:p>
          <a:p>
            <a:pPr algn="l">
              <a:lnSpc>
                <a:spcPct val="115000"/>
              </a:lnSpc>
              <a:spcBef>
                <a:spcPts val="1200"/>
              </a:spcBef>
            </a:pPr>
            <a:r>
              <a:rPr sz="1000" b="0">
                <a:solidFill>
                  <a:srgbClr val="2A78D6"/>
                </a:solidFill>
                <a:latin typeface="Inter"/>
              </a:rPr>
              <a:t>●  </a:t>
            </a:r>
            <a:r>
              <a:rPr sz="1600" b="0">
                <a:solidFill>
                  <a:srgbClr val="52514E"/>
                </a:solidFill>
                <a:latin typeface="Inter"/>
              </a:rPr>
              <a:t>Tails leak past the classical turning points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2A78D6"/>
                </a:solidFill>
                <a:latin typeface="Inter"/>
              </a:rPr>
              <a:t>HOW IT'S SOLVED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0B0B0B"/>
                </a:solidFill>
                <a:latin typeface="Inter"/>
              </a:rPr>
              <a:t>Numerical method: finite differences, then diagonalise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00200"/>
            <a:ext cx="6675120" cy="713232"/>
          </a:xfrm>
          <a:prstGeom prst="roundRect">
            <a:avLst>
              <a:gd name="adj" fmla="val 8000"/>
            </a:avLst>
          </a:prstGeom>
          <a:solidFill>
            <a:srgbClr val="F4F4F1"/>
          </a:solidFill>
          <a:ln w="12700">
            <a:solidFill>
              <a:srgbClr val="E3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78308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2A78D6"/>
                </a:solidFill>
                <a:latin typeface="Inter"/>
              </a:rPr>
              <a:t>1  Grid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48840" y="1801368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0B0B0B"/>
                </a:solidFill>
                <a:latin typeface="JetBrains Mono"/>
              </a:rPr>
              <a:t>x_i ∈ [−L, L], spacing h, hard walls (ψ = 0 at the edges)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450592"/>
            <a:ext cx="6675120" cy="713232"/>
          </a:xfrm>
          <a:prstGeom prst="roundRect">
            <a:avLst>
              <a:gd name="adj" fmla="val 8000"/>
            </a:avLst>
          </a:prstGeom>
          <a:solidFill>
            <a:srgbClr val="F4F4F1"/>
          </a:solidFill>
          <a:ln w="12700">
            <a:solidFill>
              <a:srgbClr val="E3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633472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EB6834"/>
                </a:solidFill>
                <a:latin typeface="Inter"/>
              </a:rPr>
              <a:t>2  Stencil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48840" y="265176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0B0B0B"/>
                </a:solidFill>
                <a:latin typeface="JetBrains Mono"/>
              </a:rPr>
              <a:t>ψ″(x_i) ≈ (ψ_{i−1} − 2ψ_i + ψ_{i+1}) / h²     error O(h²)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300984"/>
            <a:ext cx="6675120" cy="713232"/>
          </a:xfrm>
          <a:prstGeom prst="roundRect">
            <a:avLst>
              <a:gd name="adj" fmla="val 8000"/>
            </a:avLst>
          </a:prstGeom>
          <a:solidFill>
            <a:srgbClr val="F4F4F1"/>
          </a:solidFill>
          <a:ln w="12700">
            <a:solidFill>
              <a:srgbClr val="E3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3483864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2A78D6"/>
                </a:solidFill>
                <a:latin typeface="Inter"/>
              </a:rPr>
              <a:t>3  Matrix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48840" y="3502152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0B0B0B"/>
                </a:solidFill>
                <a:latin typeface="JetBrains Mono"/>
              </a:rPr>
              <a:t>H is tridiagonal: diagonal 1/h² + V(x_i), off-diagonal −1/(2h²)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151376"/>
            <a:ext cx="6675120" cy="713232"/>
          </a:xfrm>
          <a:prstGeom prst="roundRect">
            <a:avLst>
              <a:gd name="adj" fmla="val 8000"/>
            </a:avLst>
          </a:prstGeom>
          <a:solidFill>
            <a:srgbClr val="F4F4F1"/>
          </a:solidFill>
          <a:ln w="12700">
            <a:solidFill>
              <a:srgbClr val="E3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4334256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EB6834"/>
                </a:solidFill>
                <a:latin typeface="Inter"/>
              </a:rPr>
              <a:t>4  Solve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48840" y="4352544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0B0B0B"/>
                </a:solidFill>
                <a:latin typeface="JetBrains Mono"/>
              </a:rPr>
              <a:t>scipy.linalg.eigh_tridiagonal: lowest k eigenpairs only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5001768"/>
            <a:ext cx="6675120" cy="713232"/>
          </a:xfrm>
          <a:prstGeom prst="roundRect">
            <a:avLst>
              <a:gd name="adj" fmla="val 8000"/>
            </a:avLst>
          </a:prstGeom>
          <a:solidFill>
            <a:srgbClr val="F4F4F1"/>
          </a:solidFill>
          <a:ln w="12700">
            <a:solidFill>
              <a:srgbClr val="E3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5184648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2A78D6"/>
                </a:solidFill>
                <a:latin typeface="Inter"/>
              </a:rPr>
              <a:t>5  Tidy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48840" y="5202936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0B0B0B"/>
                </a:solidFill>
                <a:latin typeface="JetBrains Mono"/>
              </a:rPr>
              <a:t>normalise so Σ ψ² h = 1, then align each sign with the exact ψ_n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01000" y="1645920"/>
            <a:ext cx="3474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0B0B0B"/>
                </a:solidFill>
                <a:latin typeface="Inter"/>
              </a:rPr>
              <a:t>H  (N × N, symmetric)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01000" y="2148840"/>
            <a:ext cx="365760" cy="36576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421624" y="2148840"/>
            <a:ext cx="365760" cy="36576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842248" y="2148840"/>
            <a:ext cx="365760" cy="365760"/>
          </a:xfrm>
          <a:prstGeom prst="rect">
            <a:avLst/>
          </a:prstGeom>
          <a:solidFill>
            <a:srgbClr val="FCFCFB"/>
          </a:solidFill>
          <a:ln w="12700">
            <a:solidFill>
              <a:srgbClr val="ECE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262872" y="2148840"/>
            <a:ext cx="365760" cy="365760"/>
          </a:xfrm>
          <a:prstGeom prst="rect">
            <a:avLst/>
          </a:prstGeom>
          <a:solidFill>
            <a:srgbClr val="FCFCFB"/>
          </a:solidFill>
          <a:ln w="12700">
            <a:solidFill>
              <a:srgbClr val="ECE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683496" y="2148840"/>
            <a:ext cx="365760" cy="365760"/>
          </a:xfrm>
          <a:prstGeom prst="rect">
            <a:avLst/>
          </a:prstGeom>
          <a:solidFill>
            <a:srgbClr val="FCFCFB"/>
          </a:solidFill>
          <a:ln w="12700">
            <a:solidFill>
              <a:srgbClr val="ECE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0104120" y="2148840"/>
            <a:ext cx="365760" cy="365760"/>
          </a:xfrm>
          <a:prstGeom prst="rect">
            <a:avLst/>
          </a:prstGeom>
          <a:solidFill>
            <a:srgbClr val="FCFCFB"/>
          </a:solidFill>
          <a:ln w="12700">
            <a:solidFill>
              <a:srgbClr val="ECE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0524744" y="2148840"/>
            <a:ext cx="365760" cy="365760"/>
          </a:xfrm>
          <a:prstGeom prst="rect">
            <a:avLst/>
          </a:prstGeom>
          <a:solidFill>
            <a:srgbClr val="FCFCFB"/>
          </a:solidFill>
          <a:ln w="12700">
            <a:solidFill>
              <a:srgbClr val="ECE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001000" y="2569464"/>
            <a:ext cx="365760" cy="36576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421624" y="2569464"/>
            <a:ext cx="365760" cy="36576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842248" y="2569464"/>
            <a:ext cx="365760" cy="36576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262872" y="2569464"/>
            <a:ext cx="365760" cy="365760"/>
          </a:xfrm>
          <a:prstGeom prst="rect">
            <a:avLst/>
          </a:prstGeom>
          <a:solidFill>
            <a:srgbClr val="FCFCFB"/>
          </a:solidFill>
          <a:ln w="12700">
            <a:solidFill>
              <a:srgbClr val="ECE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683496" y="2569464"/>
            <a:ext cx="365760" cy="365760"/>
          </a:xfrm>
          <a:prstGeom prst="rect">
            <a:avLst/>
          </a:prstGeom>
          <a:solidFill>
            <a:srgbClr val="FCFCFB"/>
          </a:solidFill>
          <a:ln w="12700">
            <a:solidFill>
              <a:srgbClr val="ECE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0104120" y="2569464"/>
            <a:ext cx="365760" cy="365760"/>
          </a:xfrm>
          <a:prstGeom prst="rect">
            <a:avLst/>
          </a:prstGeom>
          <a:solidFill>
            <a:srgbClr val="FCFCFB"/>
          </a:solidFill>
          <a:ln w="12700">
            <a:solidFill>
              <a:srgbClr val="ECE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0524744" y="2569464"/>
            <a:ext cx="365760" cy="365760"/>
          </a:xfrm>
          <a:prstGeom prst="rect">
            <a:avLst/>
          </a:prstGeom>
          <a:solidFill>
            <a:srgbClr val="FCFCFB"/>
          </a:solidFill>
          <a:ln w="12700">
            <a:solidFill>
              <a:srgbClr val="ECE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001000" y="2990088"/>
            <a:ext cx="365760" cy="365760"/>
          </a:xfrm>
          <a:prstGeom prst="rect">
            <a:avLst/>
          </a:prstGeom>
          <a:solidFill>
            <a:srgbClr val="FCFCFB"/>
          </a:solidFill>
          <a:ln w="12700">
            <a:solidFill>
              <a:srgbClr val="ECE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421624" y="2990088"/>
            <a:ext cx="365760" cy="36576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842248" y="2990088"/>
            <a:ext cx="365760" cy="36576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262872" y="2990088"/>
            <a:ext cx="365760" cy="36576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683496" y="2990088"/>
            <a:ext cx="365760" cy="365760"/>
          </a:xfrm>
          <a:prstGeom prst="rect">
            <a:avLst/>
          </a:prstGeom>
          <a:solidFill>
            <a:srgbClr val="FCFCFB"/>
          </a:solidFill>
          <a:ln w="12700">
            <a:solidFill>
              <a:srgbClr val="ECE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0104120" y="2990088"/>
            <a:ext cx="365760" cy="365760"/>
          </a:xfrm>
          <a:prstGeom prst="rect">
            <a:avLst/>
          </a:prstGeom>
          <a:solidFill>
            <a:srgbClr val="FCFCFB"/>
          </a:solidFill>
          <a:ln w="12700">
            <a:solidFill>
              <a:srgbClr val="ECE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0524744" y="2990088"/>
            <a:ext cx="365760" cy="365760"/>
          </a:xfrm>
          <a:prstGeom prst="rect">
            <a:avLst/>
          </a:prstGeom>
          <a:solidFill>
            <a:srgbClr val="FCFCFB"/>
          </a:solidFill>
          <a:ln w="12700">
            <a:solidFill>
              <a:srgbClr val="ECE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001000" y="3410712"/>
            <a:ext cx="365760" cy="365760"/>
          </a:xfrm>
          <a:prstGeom prst="rect">
            <a:avLst/>
          </a:prstGeom>
          <a:solidFill>
            <a:srgbClr val="FCFCFB"/>
          </a:solidFill>
          <a:ln w="12700">
            <a:solidFill>
              <a:srgbClr val="ECE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421624" y="3410712"/>
            <a:ext cx="365760" cy="365760"/>
          </a:xfrm>
          <a:prstGeom prst="rect">
            <a:avLst/>
          </a:prstGeom>
          <a:solidFill>
            <a:srgbClr val="FCFCFB"/>
          </a:solidFill>
          <a:ln w="12700">
            <a:solidFill>
              <a:srgbClr val="ECE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842248" y="3410712"/>
            <a:ext cx="365760" cy="36576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9262872" y="3410712"/>
            <a:ext cx="365760" cy="36576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9683496" y="3410712"/>
            <a:ext cx="365760" cy="36576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10104120" y="3410712"/>
            <a:ext cx="365760" cy="365760"/>
          </a:xfrm>
          <a:prstGeom prst="rect">
            <a:avLst/>
          </a:prstGeom>
          <a:solidFill>
            <a:srgbClr val="FCFCFB"/>
          </a:solidFill>
          <a:ln w="12700">
            <a:solidFill>
              <a:srgbClr val="ECE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10524744" y="3410712"/>
            <a:ext cx="365760" cy="365760"/>
          </a:xfrm>
          <a:prstGeom prst="rect">
            <a:avLst/>
          </a:prstGeom>
          <a:solidFill>
            <a:srgbClr val="FCFCFB"/>
          </a:solidFill>
          <a:ln w="12700">
            <a:solidFill>
              <a:srgbClr val="ECE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8001000" y="3831336"/>
            <a:ext cx="365760" cy="365760"/>
          </a:xfrm>
          <a:prstGeom prst="rect">
            <a:avLst/>
          </a:prstGeom>
          <a:solidFill>
            <a:srgbClr val="FCFCFB"/>
          </a:solidFill>
          <a:ln w="12700">
            <a:solidFill>
              <a:srgbClr val="ECE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8421624" y="3831336"/>
            <a:ext cx="365760" cy="365760"/>
          </a:xfrm>
          <a:prstGeom prst="rect">
            <a:avLst/>
          </a:prstGeom>
          <a:solidFill>
            <a:srgbClr val="FCFCFB"/>
          </a:solidFill>
          <a:ln w="12700">
            <a:solidFill>
              <a:srgbClr val="ECE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8842248" y="3831336"/>
            <a:ext cx="365760" cy="365760"/>
          </a:xfrm>
          <a:prstGeom prst="rect">
            <a:avLst/>
          </a:prstGeom>
          <a:solidFill>
            <a:srgbClr val="FCFCFB"/>
          </a:solidFill>
          <a:ln w="12700">
            <a:solidFill>
              <a:srgbClr val="ECE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9262872" y="3831336"/>
            <a:ext cx="365760" cy="36576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9683496" y="3831336"/>
            <a:ext cx="365760" cy="36576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10104120" y="3831336"/>
            <a:ext cx="365760" cy="36576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10524744" y="3831336"/>
            <a:ext cx="365760" cy="365760"/>
          </a:xfrm>
          <a:prstGeom prst="rect">
            <a:avLst/>
          </a:prstGeom>
          <a:solidFill>
            <a:srgbClr val="FCFCFB"/>
          </a:solidFill>
          <a:ln w="12700">
            <a:solidFill>
              <a:srgbClr val="ECE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8001000" y="4251960"/>
            <a:ext cx="365760" cy="365760"/>
          </a:xfrm>
          <a:prstGeom prst="rect">
            <a:avLst/>
          </a:prstGeom>
          <a:solidFill>
            <a:srgbClr val="FCFCFB"/>
          </a:solidFill>
          <a:ln w="12700">
            <a:solidFill>
              <a:srgbClr val="ECE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8421624" y="4251960"/>
            <a:ext cx="365760" cy="365760"/>
          </a:xfrm>
          <a:prstGeom prst="rect">
            <a:avLst/>
          </a:prstGeom>
          <a:solidFill>
            <a:srgbClr val="FCFCFB"/>
          </a:solidFill>
          <a:ln w="12700">
            <a:solidFill>
              <a:srgbClr val="ECE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8842248" y="4251960"/>
            <a:ext cx="365760" cy="365760"/>
          </a:xfrm>
          <a:prstGeom prst="rect">
            <a:avLst/>
          </a:prstGeom>
          <a:solidFill>
            <a:srgbClr val="FCFCFB"/>
          </a:solidFill>
          <a:ln w="12700">
            <a:solidFill>
              <a:srgbClr val="ECE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9262872" y="4251960"/>
            <a:ext cx="365760" cy="365760"/>
          </a:xfrm>
          <a:prstGeom prst="rect">
            <a:avLst/>
          </a:prstGeom>
          <a:solidFill>
            <a:srgbClr val="FCFCFB"/>
          </a:solidFill>
          <a:ln w="12700">
            <a:solidFill>
              <a:srgbClr val="ECE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9683496" y="4251960"/>
            <a:ext cx="365760" cy="36576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10104120" y="4251960"/>
            <a:ext cx="365760" cy="36576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10524744" y="4251960"/>
            <a:ext cx="365760" cy="36576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8001000" y="4672584"/>
            <a:ext cx="365760" cy="365760"/>
          </a:xfrm>
          <a:prstGeom prst="rect">
            <a:avLst/>
          </a:prstGeom>
          <a:solidFill>
            <a:srgbClr val="FCFCFB"/>
          </a:solidFill>
          <a:ln w="12700">
            <a:solidFill>
              <a:srgbClr val="ECE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8421624" y="4672584"/>
            <a:ext cx="365760" cy="365760"/>
          </a:xfrm>
          <a:prstGeom prst="rect">
            <a:avLst/>
          </a:prstGeom>
          <a:solidFill>
            <a:srgbClr val="FCFCFB"/>
          </a:solidFill>
          <a:ln w="12700">
            <a:solidFill>
              <a:srgbClr val="ECE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8842248" y="4672584"/>
            <a:ext cx="365760" cy="365760"/>
          </a:xfrm>
          <a:prstGeom prst="rect">
            <a:avLst/>
          </a:prstGeom>
          <a:solidFill>
            <a:srgbClr val="FCFCFB"/>
          </a:solidFill>
          <a:ln w="12700">
            <a:solidFill>
              <a:srgbClr val="ECE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9262872" y="4672584"/>
            <a:ext cx="365760" cy="365760"/>
          </a:xfrm>
          <a:prstGeom prst="rect">
            <a:avLst/>
          </a:prstGeom>
          <a:solidFill>
            <a:srgbClr val="FCFCFB"/>
          </a:solidFill>
          <a:ln w="12700">
            <a:solidFill>
              <a:srgbClr val="ECE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9683496" y="4672584"/>
            <a:ext cx="365760" cy="365760"/>
          </a:xfrm>
          <a:prstGeom prst="rect">
            <a:avLst/>
          </a:prstGeom>
          <a:solidFill>
            <a:srgbClr val="FCFCFB"/>
          </a:solidFill>
          <a:ln w="12700">
            <a:solidFill>
              <a:srgbClr val="ECE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10104120" y="4672584"/>
            <a:ext cx="365760" cy="36576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10524744" y="4672584"/>
            <a:ext cx="365760" cy="36576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001000" y="5276088"/>
            <a:ext cx="35661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2A78D6"/>
                </a:solidFill>
                <a:latin typeface="Inter"/>
              </a:rPr>
              <a:t>■ </a:t>
            </a:r>
            <a:r>
              <a:rPr sz="1300" b="0">
                <a:solidFill>
                  <a:srgbClr val="0B0B0B"/>
                </a:solidFill>
                <a:latin typeface="JetBrains Mono"/>
              </a:rPr>
              <a:t>1/h² + V(x_i)</a:t>
            </a:r>
          </a:p>
          <a:p>
            <a:pPr algn="l">
              <a:lnSpc>
                <a:spcPct val="115000"/>
              </a:lnSpc>
            </a:pPr>
            <a:r>
              <a:rPr sz="1500" b="0">
                <a:solidFill>
                  <a:srgbClr val="EB6834"/>
                </a:solidFill>
                <a:latin typeface="Inter"/>
              </a:rPr>
              <a:t>■ </a:t>
            </a:r>
            <a:r>
              <a:rPr sz="1300" b="0">
                <a:solidFill>
                  <a:srgbClr val="0B0B0B"/>
                </a:solidFill>
                <a:latin typeface="JetBrains Mono"/>
              </a:rPr>
              <a:t>−1/(2h²)</a:t>
            </a:r>
            <a:r>
              <a:rPr sz="1500" b="0">
                <a:solidFill>
                  <a:srgbClr val="0B0B0B"/>
                </a:solidFill>
                <a:latin typeface="Inter"/>
              </a:rPr>
              <a:t/>
            </a:r>
          </a:p>
          <a:p>
            <a:pPr algn="l">
              <a:lnSpc>
                <a:spcPct val="115000"/>
              </a:lnSpc>
              <a:spcBef>
                <a:spcPts val="800"/>
              </a:spcBef>
            </a:pPr>
            <a:r>
              <a:rPr sz="1300" b="0">
                <a:solidFill>
                  <a:srgbClr val="52514E"/>
                </a:solidFill>
                <a:latin typeface="Inter"/>
              </a:rPr>
              <a:t>Demo: L = 12, N = 2401, h = 0.01, 12 states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2A78D6"/>
                </a:solidFill>
                <a:latin typeface="Inter"/>
              </a:rPr>
              <a:t>VISUALISATION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0B0B0B"/>
                </a:solidFill>
                <a:latin typeface="Inter"/>
              </a:rPr>
              <a:t>The central picture: states sit at their energies</a:t>
            </a:r>
          </a:p>
        </p:txBody>
      </p:sp>
      <p:pic>
        <p:nvPicPr>
          <p:cNvPr id="4" name="Picture 3" descr="crop-ma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417320"/>
            <a:ext cx="5390984" cy="5166360"/>
          </a:xfrm>
          <a:prstGeom prst="rect">
            <a:avLst/>
          </a:prstGeom>
          <a:ln w="12700">
            <a:solidFill>
              <a:srgbClr val="E3E2DC"/>
            </a:solidFill>
          </a:ln>
        </p:spPr>
      </p:pic>
      <p:sp>
        <p:nvSpPr>
          <p:cNvPr id="5" name="Rectangle 4"/>
          <p:cNvSpPr/>
          <p:nvPr/>
        </p:nvSpPr>
        <p:spPr>
          <a:xfrm>
            <a:off x="6583680" y="1508760"/>
            <a:ext cx="73152" cy="96012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0" y="150876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0B0B0B"/>
                </a:solidFill>
                <a:latin typeface="Inter"/>
              </a:rPr>
              <a:t>Equal spacing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1892807"/>
            <a:ext cx="48463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52514E"/>
                </a:solidFill>
                <a:latin typeface="Inter"/>
              </a:rPr>
              <a:t>Levels are ℏω apart and start at ½ℏω, not at zero.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0" y="2788920"/>
            <a:ext cx="73152" cy="96012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0" y="278892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0B0B0B"/>
                </a:solidFill>
                <a:latin typeface="Inter"/>
              </a:rPr>
              <a:t>Parity by colour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3172968"/>
            <a:ext cx="48463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52514E"/>
                </a:solidFill>
                <a:latin typeface="Inter"/>
              </a:rPr>
              <a:t>Blue states are even and orange states are odd. State n has n nodes.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0" y="4069079"/>
            <a:ext cx="73152" cy="960120"/>
          </a:xfrm>
          <a:prstGeom prst="rect">
            <a:avLst/>
          </a:prstGeom>
          <a:solidFill>
            <a:srgbClr val="525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0" y="4069079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0B0B0B"/>
                </a:solidFill>
                <a:latin typeface="Inter"/>
              </a:rPr>
              <a:t>Beyond the turning points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4453127"/>
            <a:ext cx="48463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52514E"/>
                </a:solidFill>
                <a:latin typeface="Inter"/>
              </a:rPr>
              <a:t>ψ leaks into the classically forbidden region where V(x) &gt; E. Each level line ends at a turning point.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0" y="5349240"/>
            <a:ext cx="73152" cy="960120"/>
          </a:xfrm>
          <a:prstGeom prst="rect">
            <a:avLst/>
          </a:prstGeom>
          <a:solidFill>
            <a:srgbClr val="525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0" y="534924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0B0B0B"/>
                </a:solidFill>
                <a:latin typeface="Inter"/>
              </a:rPr>
              <a:t>Exact overlay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5733288"/>
            <a:ext cx="48463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52514E"/>
                </a:solidFill>
                <a:latin typeface="Inter"/>
              </a:rPr>
              <a:t>The dotted Hermite functions are indistinguishable from the finite-difference curves.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2A78D6"/>
                </a:solidFill>
                <a:latin typeface="Inter"/>
              </a:rPr>
              <a:t>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0B0B0B"/>
                </a:solidFill>
                <a:latin typeface="Inter"/>
              </a:rPr>
              <a:t>Numerical vs analytical: it checks out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63040"/>
            <a:ext cx="2651760" cy="1051560"/>
          </a:xfrm>
          <a:prstGeom prst="roundRect">
            <a:avLst>
              <a:gd name="adj" fmla="val 8000"/>
            </a:avLst>
          </a:prstGeom>
          <a:solidFill>
            <a:srgbClr val="F4F4F1"/>
          </a:solidFill>
          <a:ln w="12700">
            <a:solidFill>
              <a:srgbClr val="E3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572768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0B0B0B"/>
                </a:solidFill>
                <a:latin typeface="JetBrains Mono"/>
              </a:rPr>
              <a:t>8.3e-04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10312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2514E"/>
                </a:solidFill>
                <a:latin typeface="Inter"/>
              </a:rPr>
              <a:t>max |E_num − E_exact|, 12 states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64992" y="1463040"/>
            <a:ext cx="2651760" cy="1051560"/>
          </a:xfrm>
          <a:prstGeom prst="roundRect">
            <a:avLst>
              <a:gd name="adj" fmla="val 8000"/>
            </a:avLst>
          </a:prstGeom>
          <a:solidFill>
            <a:srgbClr val="F4F4F1"/>
          </a:solidFill>
          <a:ln w="12700">
            <a:solidFill>
              <a:srgbClr val="E3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93592" y="1572768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0B0B0B"/>
                </a:solidFill>
                <a:latin typeface="JetBrains Mono"/>
              </a:rPr>
              <a:t>8e-08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93592" y="210312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2514E"/>
                </a:solidFill>
                <a:latin typeface="Inter"/>
              </a:rPr>
              <a:t>worst 1 − |⟨ψ_num|ψ_exact⟩|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81344" y="1463040"/>
            <a:ext cx="2651760" cy="1051560"/>
          </a:xfrm>
          <a:prstGeom prst="roundRect">
            <a:avLst>
              <a:gd name="adj" fmla="val 8000"/>
            </a:avLst>
          </a:prstGeom>
          <a:solidFill>
            <a:srgbClr val="F4F4F1"/>
          </a:solidFill>
          <a:ln w="12700">
            <a:solidFill>
              <a:srgbClr val="E3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9944" y="1572768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0B0B0B"/>
                </a:solidFill>
                <a:latin typeface="JetBrains Mono"/>
              </a:rPr>
              <a:t>7e-16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9944" y="210312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2514E"/>
                </a:solidFill>
                <a:latin typeface="Inter"/>
              </a:rPr>
              <a:t>max |∫|ψ|² dx − 1|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97696" y="1463040"/>
            <a:ext cx="2651760" cy="1051560"/>
          </a:xfrm>
          <a:prstGeom prst="roundRect">
            <a:avLst>
              <a:gd name="adj" fmla="val 8000"/>
            </a:avLst>
          </a:prstGeom>
          <a:solidFill>
            <a:srgbClr val="F4F4F1"/>
          </a:solidFill>
          <a:ln w="12700">
            <a:solidFill>
              <a:srgbClr val="E3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26296" y="1572768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0B0B0B"/>
                </a:solidFill>
                <a:latin typeface="JetBrains Mono"/>
              </a:rPr>
              <a:t>×4.01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26296" y="210312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2514E"/>
                </a:solidFill>
                <a:latin typeface="Inter"/>
              </a:rPr>
              <a:t>error drop per halving of h (ideal ×4)</a:t>
            </a:r>
          </a:p>
        </p:txBody>
      </p:sp>
      <p:pic>
        <p:nvPicPr>
          <p:cNvPr id="16" name="Picture 15" descr="converge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743200"/>
            <a:ext cx="5248655" cy="3749039"/>
          </a:xfrm>
          <a:prstGeom prst="rect">
            <a:avLst/>
          </a:prstGeom>
        </p:spPr>
      </p:pic>
      <p:pic>
        <p:nvPicPr>
          <p:cNvPr id="17" name="Picture 16" descr="energy-erro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97880" y="2743200"/>
            <a:ext cx="3657600" cy="2090057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989320" y="489204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8A8984"/>
                </a:solidFill>
                <a:latin typeface="Inter"/>
              </a:rPr>
              <a:t>|ΔE| grows with n: finer detail needs a finer grid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738360" y="2743200"/>
            <a:ext cx="1874519" cy="3749039"/>
          </a:xfrm>
          <a:prstGeom prst="roundRect">
            <a:avLst>
              <a:gd name="adj" fmla="val 8000"/>
            </a:avLst>
          </a:prstGeom>
          <a:solidFill>
            <a:srgbClr val="F4F4F1"/>
          </a:solidFill>
          <a:ln w="12700">
            <a:solidFill>
              <a:srgbClr val="E3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921240" y="2880360"/>
            <a:ext cx="1600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0B0B0B"/>
                </a:solidFill>
                <a:latin typeface="Inter"/>
              </a:rPr>
              <a:t>18 pytest checks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21240" y="3291840"/>
            <a:ext cx="1600200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300"/>
              </a:spcBef>
            </a:pPr>
            <a:r>
              <a:rPr sz="1200" b="0">
                <a:solidFill>
                  <a:srgbClr val="52514E"/>
                </a:solidFill>
                <a:latin typeface="Inter"/>
              </a:rPr>
              <a:t>ascending order</a:t>
            </a:r>
          </a:p>
          <a:p>
            <a:pPr algn="l">
              <a:lnSpc>
                <a:spcPct val="115000"/>
              </a:lnSpc>
              <a:spcBef>
                <a:spcPts val="300"/>
              </a:spcBef>
            </a:pPr>
            <a:r>
              <a:rPr sz="1200" b="0">
                <a:solidFill>
                  <a:srgbClr val="52514E"/>
                </a:solidFill>
                <a:latin typeface="Inter"/>
              </a:rPr>
              <a:t>E ≈ n + ½</a:t>
            </a:r>
          </a:p>
          <a:p>
            <a:pPr algn="l">
              <a:lnSpc>
                <a:spcPct val="115000"/>
              </a:lnSpc>
              <a:spcBef>
                <a:spcPts val="300"/>
              </a:spcBef>
            </a:pPr>
            <a:r>
              <a:rPr sz="1200" b="0">
                <a:solidFill>
                  <a:srgbClr val="52514E"/>
                </a:solidFill>
                <a:latin typeface="Inter"/>
              </a:rPr>
              <a:t>spacing = ℏω</a:t>
            </a:r>
          </a:p>
          <a:p>
            <a:pPr algn="l">
              <a:lnSpc>
                <a:spcPct val="115000"/>
              </a:lnSpc>
              <a:spcBef>
                <a:spcPts val="300"/>
              </a:spcBef>
            </a:pPr>
            <a:r>
              <a:rPr sz="1200" b="0">
                <a:solidFill>
                  <a:srgbClr val="52514E"/>
                </a:solidFill>
                <a:latin typeface="Inter"/>
              </a:rPr>
              <a:t>normalisation</a:t>
            </a:r>
          </a:p>
          <a:p>
            <a:pPr algn="l">
              <a:lnSpc>
                <a:spcPct val="115000"/>
              </a:lnSpc>
              <a:spcBef>
                <a:spcPts val="300"/>
              </a:spcBef>
            </a:pPr>
            <a:r>
              <a:rPr sz="1200" b="0">
                <a:solidFill>
                  <a:srgbClr val="52514E"/>
                </a:solidFill>
                <a:latin typeface="Inter"/>
              </a:rPr>
              <a:t>orthogonality</a:t>
            </a:r>
          </a:p>
          <a:p>
            <a:pPr algn="l">
              <a:lnSpc>
                <a:spcPct val="115000"/>
              </a:lnSpc>
              <a:spcBef>
                <a:spcPts val="300"/>
              </a:spcBef>
            </a:pPr>
            <a:r>
              <a:rPr sz="1200" b="0">
                <a:solidFill>
                  <a:srgbClr val="52514E"/>
                </a:solidFill>
                <a:latin typeface="Inter"/>
              </a:rPr>
              <a:t>parity (−1)ⁿ</a:t>
            </a:r>
          </a:p>
          <a:p>
            <a:pPr algn="l">
              <a:lnSpc>
                <a:spcPct val="115000"/>
              </a:lnSpc>
              <a:spcBef>
                <a:spcPts val="300"/>
              </a:spcBef>
            </a:pPr>
            <a:r>
              <a:rPr sz="1200" b="0">
                <a:solidFill>
                  <a:srgbClr val="52514E"/>
                </a:solidFill>
                <a:latin typeface="Inter"/>
              </a:rPr>
              <a:t>n nodes</a:t>
            </a:r>
          </a:p>
          <a:p>
            <a:pPr algn="l">
              <a:lnSpc>
                <a:spcPct val="115000"/>
              </a:lnSpc>
              <a:spcBef>
                <a:spcPts val="300"/>
              </a:spcBef>
            </a:pPr>
            <a:r>
              <a:rPr sz="1200" b="0">
                <a:solidFill>
                  <a:srgbClr val="52514E"/>
                </a:solidFill>
                <a:latin typeface="Inter"/>
              </a:rPr>
              <a:t>exact ψ match</a:t>
            </a:r>
          </a:p>
          <a:p>
            <a:pPr algn="l">
              <a:lnSpc>
                <a:spcPct val="115000"/>
              </a:lnSpc>
              <a:spcBef>
                <a:spcPts val="300"/>
              </a:spcBef>
            </a:pPr>
            <a:r>
              <a:rPr sz="1200" b="0">
                <a:solidFill>
                  <a:srgbClr val="52514E"/>
                </a:solidFill>
                <a:latin typeface="Inter"/>
              </a:rPr>
              <a:t>O(h²) convergence</a:t>
            </a:r>
          </a:p>
          <a:p>
            <a:pPr algn="l">
              <a:lnSpc>
                <a:spcPct val="115000"/>
              </a:lnSpc>
              <a:spcBef>
                <a:spcPts val="300"/>
              </a:spcBef>
            </a:pPr>
            <a:r>
              <a:rPr sz="1200" b="0">
                <a:solidFill>
                  <a:srgbClr val="52514E"/>
                </a:solidFill>
                <a:latin typeface="Inter"/>
              </a:rPr>
              <a:t>ω rescaling</a:t>
            </a:r>
          </a:p>
          <a:p>
            <a:pPr algn="l">
              <a:lnSpc>
                <a:spcPct val="115000"/>
              </a:lnSpc>
              <a:spcBef>
                <a:spcPts val="300"/>
              </a:spcBef>
            </a:pPr>
            <a:r>
              <a:rPr sz="1200" b="0">
                <a:solidFill>
                  <a:srgbClr val="52514E"/>
                </a:solidFill>
                <a:latin typeface="Inter"/>
              </a:rPr>
              <a:t>small-box failure</a:t>
            </a:r>
          </a:p>
          <a:p>
            <a:pPr algn="l">
              <a:lnSpc>
                <a:spcPct val="115000"/>
              </a:lnSpc>
              <a:spcBef>
                <a:spcPts val="300"/>
              </a:spcBef>
            </a:pPr>
            <a:r>
              <a:rPr sz="1200" b="0">
                <a:solidFill>
                  <a:srgbClr val="52514E"/>
                </a:solidFill>
                <a:latin typeface="Inter"/>
              </a:rPr>
              <a:t>build output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2A78D6"/>
                </a:solidFill>
                <a:latin typeface="Inter"/>
              </a:rPr>
              <a:t>HOW IT FITS TOGETHER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0B0B0B"/>
                </a:solidFill>
                <a:latin typeface="Inter"/>
              </a:rPr>
              <a:t>Demo and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54480"/>
            <a:ext cx="3017520" cy="914400"/>
          </a:xfrm>
          <a:prstGeom prst="roundRect">
            <a:avLst>
              <a:gd name="adj" fmla="val 8000"/>
            </a:avLst>
          </a:prstGeom>
          <a:solidFill>
            <a:srgbClr val="F4F4F1"/>
          </a:solidFill>
          <a:ln w="12700">
            <a:solidFill>
              <a:srgbClr val="E3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554480"/>
            <a:ext cx="73152" cy="9144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682495"/>
            <a:ext cx="269747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0B0B0B"/>
                </a:solidFill>
                <a:latin typeface="JetBrains Mono"/>
              </a:rPr>
              <a:t>qho/solver.py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057400"/>
            <a:ext cx="269747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2514E"/>
                </a:solidFill>
                <a:latin typeface="Inter"/>
              </a:rPr>
              <a:t>finite-difference Hamiltonian + eigh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697480"/>
            <a:ext cx="3017520" cy="914400"/>
          </a:xfrm>
          <a:prstGeom prst="roundRect">
            <a:avLst>
              <a:gd name="adj" fmla="val 8000"/>
            </a:avLst>
          </a:prstGeom>
          <a:solidFill>
            <a:srgbClr val="F4F4F1"/>
          </a:solidFill>
          <a:ln w="12700">
            <a:solidFill>
              <a:srgbClr val="E3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697480"/>
            <a:ext cx="73152" cy="91440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825496"/>
            <a:ext cx="269747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0B0B0B"/>
                </a:solidFill>
                <a:latin typeface="JetBrains Mono"/>
              </a:rPr>
              <a:t>qho/analytic.py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200400"/>
            <a:ext cx="269747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2514E"/>
                </a:solidFill>
                <a:latin typeface="Inter"/>
              </a:rPr>
              <a:t>E_n = n + ½, Hermite functions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2103120"/>
            <a:ext cx="2926080" cy="914400"/>
          </a:xfrm>
          <a:prstGeom prst="roundRect">
            <a:avLst>
              <a:gd name="adj" fmla="val 8000"/>
            </a:avLst>
          </a:prstGeom>
          <a:solidFill>
            <a:srgbClr val="F4F4F1"/>
          </a:solidFill>
          <a:ln w="12700">
            <a:solidFill>
              <a:srgbClr val="E3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43400" y="2103120"/>
            <a:ext cx="73152" cy="9144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2231136"/>
            <a:ext cx="26060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0B0B0B"/>
                </a:solidFill>
                <a:latin typeface="JetBrains Mono"/>
              </a:rPr>
              <a:t>qho/build.py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2606039"/>
            <a:ext cx="26060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2514E"/>
                </a:solidFill>
                <a:latin typeface="Inter"/>
              </a:rPr>
              <a:t>solve, compare, embed as JSON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2440" y="2103120"/>
            <a:ext cx="3520440" cy="914400"/>
          </a:xfrm>
          <a:prstGeom prst="roundRect">
            <a:avLst>
              <a:gd name="adj" fmla="val 8000"/>
            </a:avLst>
          </a:prstGeom>
          <a:solidFill>
            <a:srgbClr val="F4F4F1"/>
          </a:solidFill>
          <a:ln w="12700">
            <a:solidFill>
              <a:srgbClr val="E3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92440" y="2103120"/>
            <a:ext cx="73152" cy="91440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21040" y="2231136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0B0B0B"/>
                </a:solidFill>
                <a:latin typeface="JetBrains Mono"/>
              </a:rPr>
              <a:t>demo/index.html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2606039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2514E"/>
                </a:solidFill>
                <a:latin typeface="Inter"/>
              </a:rPr>
              <a:t>self-contained page, Plotly.js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3840480"/>
            <a:ext cx="3017520" cy="914400"/>
          </a:xfrm>
          <a:prstGeom prst="roundRect">
            <a:avLst>
              <a:gd name="adj" fmla="val 8000"/>
            </a:avLst>
          </a:prstGeom>
          <a:solidFill>
            <a:srgbClr val="F4F4F1"/>
          </a:solidFill>
          <a:ln w="12700">
            <a:solidFill>
              <a:srgbClr val="E3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3840480"/>
            <a:ext cx="73152" cy="914400"/>
          </a:xfrm>
          <a:prstGeom prst="rect">
            <a:avLst/>
          </a:prstGeom>
          <a:solidFill>
            <a:srgbClr val="525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3968496"/>
            <a:ext cx="269747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0B0B0B"/>
                </a:solidFill>
                <a:latin typeface="JetBrains Mono"/>
              </a:rPr>
              <a:t>tests/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4343400"/>
            <a:ext cx="269747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2514E"/>
                </a:solidFill>
                <a:latin typeface="Inter"/>
              </a:rPr>
              <a:t>pytest: physics and build checks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3611880" y="2011680"/>
            <a:ext cx="685800" cy="457200"/>
          </a:xfrm>
          <a:prstGeom prst="line">
            <a:avLst/>
          </a:prstGeom>
          <a:ln w="25400">
            <a:solidFill>
              <a:srgbClr val="8A898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3611880" y="2743200"/>
            <a:ext cx="685800" cy="411480"/>
          </a:xfrm>
          <a:prstGeom prst="line">
            <a:avLst/>
          </a:prstGeom>
          <a:ln w="25400">
            <a:solidFill>
              <a:srgbClr val="8A898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7315200" y="2560320"/>
            <a:ext cx="731520" cy="0"/>
          </a:xfrm>
          <a:prstGeom prst="line">
            <a:avLst/>
          </a:prstGeom>
          <a:ln w="25400">
            <a:solidFill>
              <a:srgbClr val="8A898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3611880" y="4297680"/>
            <a:ext cx="685800" cy="0"/>
          </a:xfrm>
          <a:prstGeom prst="line">
            <a:avLst/>
          </a:prstGeom>
          <a:ln w="25400">
            <a:solidFill>
              <a:srgbClr val="8A898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4389120" y="411480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8A8984"/>
                </a:solidFill>
                <a:latin typeface="Inter"/>
              </a:rPr>
              <a:t>verifies solver and build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92440" y="3291840"/>
            <a:ext cx="3520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0B0B0B"/>
                </a:solidFill>
                <a:latin typeface="Inter"/>
              </a:rPr>
              <a:t>Controls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92440" y="3703320"/>
            <a:ext cx="352044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>
                <a:solidFill>
                  <a:srgbClr val="2A78D6"/>
                </a:solidFill>
                <a:latin typeface="Inter"/>
              </a:rPr>
              <a:t>●  </a:t>
            </a:r>
            <a:r>
              <a:rPr sz="1400" b="0">
                <a:solidFill>
                  <a:srgbClr val="52514E"/>
                </a:solidFill>
                <a:latin typeface="Inter"/>
              </a:rPr>
              <a:t>View: ψ or |ψ|²</a:t>
            </a:r>
          </a:p>
          <a:p>
            <a:pPr algn="l">
              <a:lnSpc>
                <a:spcPct val="115000"/>
              </a:lnSpc>
              <a:spcBef>
                <a:spcPts val="600"/>
              </a:spcBef>
            </a:pPr>
            <a:r>
              <a:rPr sz="800" b="0">
                <a:solidFill>
                  <a:srgbClr val="EB6834"/>
                </a:solidFill>
                <a:latin typeface="Inter"/>
              </a:rPr>
              <a:t>●  </a:t>
            </a:r>
            <a:r>
              <a:rPr sz="1400" b="0">
                <a:solidFill>
                  <a:srgbClr val="52514E"/>
                </a:solidFill>
                <a:latin typeface="Inter"/>
              </a:rPr>
              <a:t>States shown (1–12) and selected n</a:t>
            </a:r>
          </a:p>
          <a:p>
            <a:pPr algn="l">
              <a:lnSpc>
                <a:spcPct val="115000"/>
              </a:lnSpc>
              <a:spcBef>
                <a:spcPts val="600"/>
              </a:spcBef>
            </a:pPr>
            <a:r>
              <a:rPr sz="800" b="0">
                <a:solidFill>
                  <a:srgbClr val="2A78D6"/>
                </a:solidFill>
                <a:latin typeface="Inter"/>
              </a:rPr>
              <a:t>●  </a:t>
            </a:r>
            <a:r>
              <a:rPr sz="1400" b="0">
                <a:solidFill>
                  <a:srgbClr val="52514E"/>
                </a:solidFill>
                <a:latin typeface="Inter"/>
              </a:rPr>
              <a:t>ω slider (exact scaling law)</a:t>
            </a:r>
          </a:p>
          <a:p>
            <a:pPr algn="l">
              <a:lnSpc>
                <a:spcPct val="115000"/>
              </a:lnSpc>
              <a:spcBef>
                <a:spcPts val="600"/>
              </a:spcBef>
            </a:pPr>
            <a:r>
              <a:rPr sz="800" b="0">
                <a:solidFill>
                  <a:srgbClr val="EB6834"/>
                </a:solidFill>
                <a:latin typeface="Inter"/>
              </a:rPr>
              <a:t>●  </a:t>
            </a:r>
            <a:r>
              <a:rPr sz="1400" b="0">
                <a:solidFill>
                  <a:srgbClr val="52514E"/>
                </a:solidFill>
                <a:latin typeface="Inter"/>
              </a:rPr>
              <a:t>Exact-solution overlay</a:t>
            </a:r>
          </a:p>
          <a:p>
            <a:pPr algn="l">
              <a:lnSpc>
                <a:spcPct val="115000"/>
              </a:lnSpc>
              <a:spcBef>
                <a:spcPts val="600"/>
              </a:spcBef>
            </a:pPr>
            <a:r>
              <a:rPr sz="800" b="0">
                <a:solidFill>
                  <a:srgbClr val="2A78D6"/>
                </a:solidFill>
                <a:latin typeface="Inter"/>
              </a:rPr>
              <a:t>●  </a:t>
            </a:r>
            <a:r>
              <a:rPr sz="1400" b="0">
                <a:solidFill>
                  <a:srgbClr val="52514E"/>
                </a:solidFill>
                <a:latin typeface="Inter"/>
              </a:rPr>
              <a:t>Click, ↑/↓ keys, URL presets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8640" y="5166360"/>
            <a:ext cx="6720840" cy="1143000"/>
          </a:xfrm>
          <a:prstGeom prst="roundRect">
            <a:avLst>
              <a:gd name="adj" fmla="val 8000"/>
            </a:avLst>
          </a:prstGeom>
          <a:solidFill>
            <a:srgbClr val="1A1A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77240" y="5303520"/>
            <a:ext cx="6400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C3C2B7"/>
                </a:solidFill>
                <a:latin typeface="JetBrains Mono"/>
              </a:rPr>
              <a:t>$ pip install -r requirements.txt</a:t>
            </a:r>
          </a:p>
          <a:p>
            <a:pPr algn="l">
              <a:lnSpc>
                <a:spcPct val="115000"/>
              </a:lnSpc>
              <a:spcBef>
                <a:spcPts val="400"/>
              </a:spcBef>
            </a:pPr>
            <a:r>
              <a:rPr sz="1400" b="0">
                <a:solidFill>
                  <a:srgbClr val="FFFFFF"/>
                </a:solidFill>
                <a:latin typeface="JetBrains Mono"/>
              </a:rPr>
              <a:t>$ python -m qho.build &amp;&amp; open demo/index.html</a:t>
            </a:r>
          </a:p>
          <a:p>
            <a:pPr algn="l">
              <a:lnSpc>
                <a:spcPct val="115000"/>
              </a:lnSpc>
              <a:spcBef>
                <a:spcPts val="400"/>
              </a:spcBef>
            </a:pPr>
            <a:r>
              <a:rPr sz="1400" b="0">
                <a:solidFill>
                  <a:srgbClr val="C3C2B7"/>
                </a:solidFill>
                <a:latin typeface="JetBrains Mono"/>
              </a:rPr>
              <a:t>$ pytest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2A78D6"/>
                </a:solidFill>
                <a:latin typeface="Inter"/>
              </a:rPr>
              <a:t>WRAP-UP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0B0B0B"/>
                </a:solidFill>
                <a:latin typeface="Inter"/>
              </a:rPr>
              <a:t>Takeaways and limitations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2A78D6"/>
                </a:solidFill>
                <a:latin typeface="Inter"/>
              </a:rPr>
              <a:t>What we showed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057400"/>
            <a:ext cx="539496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2A78D6"/>
                </a:solidFill>
                <a:latin typeface="Inter"/>
              </a:rPr>
              <a:t>●  </a:t>
            </a:r>
            <a:r>
              <a:rPr sz="1600" b="0">
                <a:solidFill>
                  <a:srgbClr val="52514E"/>
                </a:solidFill>
                <a:latin typeface="Inter"/>
              </a:rPr>
              <a:t>Finite differences reproduce E_n = n + ½ to 8e-04 with 2401 points in ~19 ms</a:t>
            </a:r>
          </a:p>
          <a:p>
            <a:pPr algn="l">
              <a:lnSpc>
                <a:spcPct val="115000"/>
              </a:lnSpc>
              <a:spcBef>
                <a:spcPts val="1200"/>
              </a:spcBef>
            </a:pPr>
            <a:r>
              <a:rPr sz="1000" b="0">
                <a:solidFill>
                  <a:srgbClr val="EB6834"/>
                </a:solidFill>
                <a:latin typeface="Inter"/>
              </a:rPr>
              <a:t>●  </a:t>
            </a:r>
            <a:r>
              <a:rPr sz="1600" b="0">
                <a:solidFill>
                  <a:srgbClr val="52514E"/>
                </a:solidFill>
                <a:latin typeface="Inter"/>
              </a:rPr>
              <a:t>Wavefunctions match the Hermite functions (1 − fidelity &lt; 1e-7)</a:t>
            </a:r>
          </a:p>
          <a:p>
            <a:pPr algn="l">
              <a:lnSpc>
                <a:spcPct val="115000"/>
              </a:lnSpc>
              <a:spcBef>
                <a:spcPts val="1200"/>
              </a:spcBef>
            </a:pPr>
            <a:r>
              <a:rPr sz="1000" b="0">
                <a:solidFill>
                  <a:srgbClr val="2A78D6"/>
                </a:solidFill>
                <a:latin typeface="Inter"/>
              </a:rPr>
              <a:t>●  </a:t>
            </a:r>
            <a:r>
              <a:rPr sz="1600" b="0">
                <a:solidFill>
                  <a:srgbClr val="52514E"/>
                </a:solidFill>
                <a:latin typeface="Inter"/>
              </a:rPr>
              <a:t>Second-order convergence is directly visible: ×4 per halving of h</a:t>
            </a:r>
          </a:p>
          <a:p>
            <a:pPr algn="l">
              <a:lnSpc>
                <a:spcPct val="115000"/>
              </a:lnSpc>
              <a:spcBef>
                <a:spcPts val="1200"/>
              </a:spcBef>
            </a:pPr>
            <a:r>
              <a:rPr sz="1000" b="0">
                <a:solidFill>
                  <a:srgbClr val="EB6834"/>
                </a:solidFill>
                <a:latin typeface="Inter"/>
              </a:rPr>
              <a:t>●  </a:t>
            </a:r>
            <a:r>
              <a:rPr sz="1600" b="0">
                <a:solidFill>
                  <a:srgbClr val="52514E"/>
                </a:solidFill>
                <a:latin typeface="Inter"/>
              </a:rPr>
              <a:t>One picture shows the potential, the quantised levels, ψ, |ψ|² and the exact overlay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463040"/>
            <a:ext cx="5212080" cy="4754880"/>
          </a:xfrm>
          <a:prstGeom prst="roundRect">
            <a:avLst>
              <a:gd name="adj" fmla="val 8000"/>
            </a:avLst>
          </a:prstGeom>
          <a:solidFill>
            <a:srgbClr val="F4F4F1"/>
          </a:solidFill>
          <a:ln w="12700">
            <a:solidFill>
              <a:srgbClr val="E3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0" y="164592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EB6834"/>
                </a:solidFill>
                <a:latin typeface="Inter"/>
              </a:rPr>
              <a:t>Limitations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0" y="2148840"/>
            <a:ext cx="470916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2A78D6"/>
                </a:solidFill>
                <a:latin typeface="Inter"/>
              </a:rPr>
              <a:t>●  </a:t>
            </a:r>
            <a:r>
              <a:rPr sz="1500" b="0">
                <a:solidFill>
                  <a:srgbClr val="52514E"/>
                </a:solidFill>
                <a:latin typeface="Inter"/>
              </a:rPr>
              <a:t>Finite box with hard walls: high n needs a larger L (tested: a small box pushes the energies up)</a:t>
            </a:r>
          </a:p>
          <a:p>
            <a:pPr algn="l">
              <a:lnSpc>
                <a:spcPct val="115000"/>
              </a:lnSpc>
              <a:spcBef>
                <a:spcPts val="1200"/>
              </a:spcBef>
            </a:pPr>
            <a:r>
              <a:rPr sz="900" b="0">
                <a:solidFill>
                  <a:srgbClr val="EB6834"/>
                </a:solidFill>
                <a:latin typeface="Inter"/>
              </a:rPr>
              <a:t>●  </a:t>
            </a:r>
            <a:r>
              <a:rPr sz="1500" b="0">
                <a:solidFill>
                  <a:srgbClr val="52514E"/>
                </a:solidFill>
                <a:latin typeface="Inter"/>
              </a:rPr>
              <a:t>O(h²) error grows with n, so fine structure needs finer grids</a:t>
            </a:r>
          </a:p>
          <a:p>
            <a:pPr algn="l">
              <a:lnSpc>
                <a:spcPct val="115000"/>
              </a:lnSpc>
              <a:spcBef>
                <a:spcPts val="1200"/>
              </a:spcBef>
            </a:pPr>
            <a:r>
              <a:rPr sz="900" b="0">
                <a:solidFill>
                  <a:srgbClr val="2A78D6"/>
                </a:solidFill>
                <a:latin typeface="Inter"/>
              </a:rPr>
              <a:t>●  </a:t>
            </a:r>
            <a:r>
              <a:rPr sz="1500" b="0">
                <a:solidFill>
                  <a:srgbClr val="52514E"/>
                </a:solidFill>
                <a:latin typeface="Inter"/>
              </a:rPr>
              <a:t>1D, time-independent, harmonic potential only (the solver accepts any V(x), but only this one is validated)</a:t>
            </a:r>
          </a:p>
          <a:p>
            <a:pPr algn="l">
              <a:lnSpc>
                <a:spcPct val="115000"/>
              </a:lnSpc>
              <a:spcBef>
                <a:spcPts val="1200"/>
              </a:spcBef>
            </a:pPr>
            <a:r>
              <a:rPr sz="900" b="0">
                <a:solidFill>
                  <a:srgbClr val="EB6834"/>
                </a:solidFill>
                <a:latin typeface="Inter"/>
              </a:rPr>
              <a:t>●  </a:t>
            </a:r>
            <a:r>
              <a:rPr sz="1500" b="0">
                <a:solidFill>
                  <a:srgbClr val="52514E"/>
                </a:solidFill>
                <a:latin typeface="Inter"/>
              </a:rPr>
              <a:t>The ω slider rescales the ω = 1 result. This is identical to re-solving on a grid scaled by 1/√ω (tested)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